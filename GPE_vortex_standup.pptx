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do quantised vortices nucleate when two condensates collide, and how many. Key point for the room: this is not a mean-field result - a symmetric mean-field state never breaks symmetry, so the quantum noise is the physics, not a numerical detail. The mean-field control run with noise off must give zero; that is the experiment's own null. Units are verified against the source paper to 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worth a question. 1) Split-step is unconditionally norm-preserving, so a large dt buys speed and costs accuracy, never stability - the order-4 multiplier is calibrated per scenario. 2) The noise cutoff is tied to the healing length rather than the grid, which is what stops the answer depending on resolution. 3) The winding integrality check is free and catches an under-resolved core before it becomes a wrong number. 4) The resolution gate exists because aliasing is unitary - every conservation gate stays green while the clouds silently fail to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points: the backend switch means no separate GPU code path. The solver contract plus one config table is what keeps adding a scenario cheap. Memory is the real constraint - chunking the ensemble is what makes a 512-cubed run fit in 6 GB, and it is exact, so there is no accuracy cost. Closing line: the code is in a known-good state as of this week; two physics decisions are open and both need a re-gate, written up in AUDIT.md.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6"/>
        </a:solidFill>
      </p:bgPr>
    </p:bg>
    <p:spTree>
      <p:nvGrpSpPr>
        <p:cNvPr id="1" name=""/>
        <p:cNvGrpSpPr/>
        <p:nvPr/>
      </p:nvGrpSpPr>
      <p:grpSpPr>
        <a:xfrm>
          <a:off x="0" y="0"/>
          <a:ext cx="0" cy="0"/>
          <a:chOff x="0" y="0"/>
          <a:chExt cx="0" cy="0"/>
        </a:xfrm>
      </p:grpSpPr>
      <p:sp>
        <p:nvSpPr>
          <p:cNvPr id="2" name="Text 0"/>
          <p:cNvSpPr txBox="1"/>
          <p:nvPr/>
        </p:nvSpPr>
        <p:spPr>
          <a:xfrm>
            <a:off x="640080" y="310896"/>
            <a:ext cx="5486400" cy="274320"/>
          </a:xfrm>
          <a:prstGeom prst="rect">
            <a:avLst/>
          </a:prstGeom>
          <a:noFill/>
          <a:ln/>
        </p:spPr>
        <p:txBody>
          <a:bodyPr wrap="square" lIns="0" tIns="0" rIns="0" bIns="0" rtlCol="0" anchor="ctr"/>
          <a:lstStyle/>
          <a:p>
            <a:pPr indent="0" marL="0">
              <a:buNone/>
            </a:pPr>
            <a:r>
              <a:rPr lang="en-US" sz="1150" b="1" spc="240" kern="0" dirty="0">
                <a:solidFill>
                  <a:srgbClr val="35C4B5"/>
                </a:solidFill>
                <a:latin typeface="Calibri" pitchFamily="34" charset="0"/>
                <a:ea typeface="Calibri" pitchFamily="34" charset="-122"/>
                <a:cs typeface="Calibri" pitchFamily="34" charset="-120"/>
              </a:rPr>
              <a:t>01   PHYSICS</a:t>
            </a:r>
            <a:endParaRPr lang="en-US" sz="115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Vortex nucleation in colliding condensates</a:t>
            </a:r>
            <a:endParaRPr lang="en-US" sz="3800" dirty="0"/>
          </a:p>
        </p:txBody>
      </p:sp>
      <p:sp>
        <p:nvSpPr>
          <p:cNvPr id="4" name="Text 2"/>
          <p:cNvSpPr txBox="1"/>
          <p:nvPr/>
        </p:nvSpPr>
        <p:spPr>
          <a:xfrm>
            <a:off x="640080" y="1298448"/>
            <a:ext cx="10881360" cy="365760"/>
          </a:xfrm>
          <a:prstGeom prst="rect">
            <a:avLst/>
          </a:prstGeom>
          <a:noFill/>
          <a:ln/>
        </p:spPr>
        <p:txBody>
          <a:bodyPr wrap="square" lIns="0" tIns="0" rIns="0" bIns="0" rtlCol="0" anchor="ctr"/>
          <a:lstStyle/>
          <a:p>
            <a:pPr indent="0" marL="0">
              <a:buNone/>
            </a:pPr>
            <a:r>
              <a:rPr lang="en-US" sz="1450" dirty="0">
                <a:solidFill>
                  <a:srgbClr val="97A3C4"/>
                </a:solidFill>
                <a:latin typeface="Calibri" pitchFamily="34" charset="0"/>
                <a:ea typeface="Calibri" pitchFamily="34" charset="-122"/>
                <a:cs typeface="Calibri" pitchFamily="34" charset="-120"/>
              </a:rPr>
              <a:t>Two ²³Na Bose–Einstein condensates, relaxed in a harmonic trap, released and collided in free space.</a:t>
            </a:r>
            <a:endParaRPr lang="en-US" sz="1450" dirty="0"/>
          </a:p>
        </p:txBody>
      </p:sp>
      <p:sp>
        <p:nvSpPr>
          <p:cNvPr id="5" name="Shape 3"/>
          <p:cNvSpPr/>
          <p:nvPr/>
        </p:nvSpPr>
        <p:spPr>
          <a:xfrm>
            <a:off x="640080" y="1901952"/>
            <a:ext cx="6172200" cy="1024128"/>
          </a:xfrm>
          <a:prstGeom prst="roundRect">
            <a:avLst>
              <a:gd name="adj" fmla="val 7143"/>
            </a:avLst>
          </a:prstGeom>
          <a:solidFill>
            <a:srgbClr val="18234A"/>
          </a:solidFill>
          <a:ln/>
        </p:spPr>
      </p:sp>
      <p:sp>
        <p:nvSpPr>
          <p:cNvPr id="6" name="Text 4"/>
          <p:cNvSpPr txBox="1"/>
          <p:nvPr/>
        </p:nvSpPr>
        <p:spPr>
          <a:xfrm>
            <a:off x="640080" y="1993392"/>
            <a:ext cx="6172200" cy="502920"/>
          </a:xfrm>
          <a:prstGeom prst="rect">
            <a:avLst/>
          </a:prstGeom>
          <a:noFill/>
          <a:ln/>
        </p:spPr>
        <p:txBody>
          <a:bodyPr wrap="square" lIns="0" tIns="0" rIns="0" bIns="0" rtlCol="0" anchor="ctr"/>
          <a:lstStyle/>
          <a:p>
            <a:pPr algn="ctr" indent="0" marL="0">
              <a:buNone/>
            </a:pPr>
            <a:r>
              <a:rPr lang="en-US" sz="2200" dirty="0">
                <a:solidFill>
                  <a:srgbClr val="FFFFFF"/>
                </a:solidFill>
                <a:latin typeface="Cambria" pitchFamily="34" charset="0"/>
                <a:ea typeface="Cambria" pitchFamily="34" charset="-122"/>
                <a:cs typeface="Cambria" pitchFamily="34" charset="-120"/>
              </a:rPr>
              <a:t>i ∂ψ/∂t  =  ( −½ ∇²  +  V(r)  +  g|ψ|² ) ψ</a:t>
            </a:r>
            <a:endParaRPr lang="en-US" sz="2200" dirty="0"/>
          </a:p>
        </p:txBody>
      </p:sp>
      <p:sp>
        <p:nvSpPr>
          <p:cNvPr id="7" name="Text 5"/>
          <p:cNvSpPr txBox="1"/>
          <p:nvPr/>
        </p:nvSpPr>
        <p:spPr>
          <a:xfrm>
            <a:off x="640080" y="2505456"/>
            <a:ext cx="6172200" cy="292608"/>
          </a:xfrm>
          <a:prstGeom prst="rect">
            <a:avLst/>
          </a:prstGeom>
          <a:noFill/>
          <a:ln/>
        </p:spPr>
        <p:txBody>
          <a:bodyPr wrap="square" lIns="0" tIns="0" rIns="0" bIns="0" rtlCol="0" anchor="ctr"/>
          <a:lstStyle/>
          <a:p>
            <a:pPr algn="ctr" indent="0" marL="0">
              <a:buNone/>
            </a:pPr>
            <a:r>
              <a:rPr lang="en-US" sz="1150" dirty="0">
                <a:solidFill>
                  <a:srgbClr val="97A3C4"/>
                </a:solidFill>
                <a:latin typeface="Calibri" pitchFamily="34" charset="0"/>
                <a:ea typeface="Calibri" pitchFamily="34" charset="-122"/>
                <a:cs typeface="Calibri" pitchFamily="34" charset="-120"/>
              </a:rPr>
              <a:t>Gross–Pitaevskii, natural units ħ = m = 1</a:t>
            </a:r>
            <a:endParaRPr lang="en-US" sz="1150" dirty="0"/>
          </a:p>
        </p:txBody>
      </p:sp>
      <p:sp>
        <p:nvSpPr>
          <p:cNvPr id="8" name="Shape 6"/>
          <p:cNvSpPr/>
          <p:nvPr/>
        </p:nvSpPr>
        <p:spPr>
          <a:xfrm>
            <a:off x="658368" y="3236976"/>
            <a:ext cx="182880" cy="182880"/>
          </a:xfrm>
          <a:prstGeom prst="ellipse">
            <a:avLst/>
          </a:prstGeom>
          <a:solidFill>
            <a:srgbClr val="0B1026"/>
          </a:solidFill>
          <a:ln w="22225">
            <a:solidFill>
              <a:srgbClr val="35C4B5"/>
            </a:solidFill>
            <a:prstDash val="solid"/>
          </a:ln>
        </p:spPr>
      </p:sp>
      <p:sp>
        <p:nvSpPr>
          <p:cNvPr id="9" name="Shape 7"/>
          <p:cNvSpPr/>
          <p:nvPr/>
        </p:nvSpPr>
        <p:spPr>
          <a:xfrm>
            <a:off x="715061" y="3293669"/>
            <a:ext cx="69494" cy="69494"/>
          </a:xfrm>
          <a:prstGeom prst="ellipse">
            <a:avLst/>
          </a:prstGeom>
          <a:solidFill>
            <a:srgbClr val="35C4B5"/>
          </a:solidFill>
          <a:ln/>
        </p:spPr>
      </p:sp>
      <p:sp>
        <p:nvSpPr>
          <p:cNvPr id="10" name="Text 8"/>
          <p:cNvSpPr txBox="1"/>
          <p:nvPr/>
        </p:nvSpPr>
        <p:spPr>
          <a:xfrm>
            <a:off x="1024128" y="3182112"/>
            <a:ext cx="580644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Mean field alone cannot nucleate anything</a:t>
            </a:r>
            <a:endParaRPr lang="en-US" sz="1500" dirty="0"/>
          </a:p>
        </p:txBody>
      </p:sp>
      <p:sp>
        <p:nvSpPr>
          <p:cNvPr id="11" name="Text 9"/>
          <p:cNvSpPr txBox="1"/>
          <p:nvPr/>
        </p:nvSpPr>
        <p:spPr>
          <a:xfrm>
            <a:off x="1024128" y="3474720"/>
            <a:ext cx="5806440" cy="1051560"/>
          </a:xfrm>
          <a:prstGeom prst="rect">
            <a:avLst/>
          </a:prstGeom>
          <a:noFill/>
          <a:ln/>
        </p:spPr>
        <p:txBody>
          <a:bodyPr wrap="square" lIns="0" tIns="0" rIns="0" bIns="0" rtlCol="0" anchor="ctr"/>
          <a:lstStyle/>
          <a:p>
            <a:pPr indent="0" marL="0">
              <a:lnSpc>
                <a:spcPct val="116000"/>
              </a:lnSpc>
              <a:buNone/>
            </a:pPr>
            <a:r>
              <a:rPr lang="en-US" sz="1250" dirty="0">
                <a:solidFill>
                  <a:srgbClr val="97A3C4"/>
                </a:solidFill>
                <a:latin typeface="Calibri" pitchFamily="34" charset="0"/>
                <a:ea typeface="Calibri" pitchFamily="34" charset="-122"/>
                <a:cs typeface="Calibri" pitchFamily="34" charset="-120"/>
              </a:rPr>
              <a:t>A symmetric initial state stays symmetric. Truncated Wigner puts the quantum vacuum into the initial condition — half a quantum in every mode below a cutoff — and every trajectory then obeys the same deterministic GPE. The stochasticity is entirely in the draw.</a:t>
            </a:r>
            <a:endParaRPr lang="en-US" sz="1250" dirty="0"/>
          </a:p>
        </p:txBody>
      </p:sp>
      <p:sp>
        <p:nvSpPr>
          <p:cNvPr id="12" name="Shape 10"/>
          <p:cNvSpPr/>
          <p:nvPr/>
        </p:nvSpPr>
        <p:spPr>
          <a:xfrm>
            <a:off x="658368" y="4654296"/>
            <a:ext cx="182880" cy="182880"/>
          </a:xfrm>
          <a:prstGeom prst="ellipse">
            <a:avLst/>
          </a:prstGeom>
          <a:solidFill>
            <a:srgbClr val="0B1026"/>
          </a:solidFill>
          <a:ln w="22225">
            <a:solidFill>
              <a:srgbClr val="35C4B5"/>
            </a:solidFill>
            <a:prstDash val="solid"/>
          </a:ln>
        </p:spPr>
      </p:sp>
      <p:sp>
        <p:nvSpPr>
          <p:cNvPr id="13" name="Shape 11"/>
          <p:cNvSpPr/>
          <p:nvPr/>
        </p:nvSpPr>
        <p:spPr>
          <a:xfrm>
            <a:off x="715061" y="4710989"/>
            <a:ext cx="69494" cy="69494"/>
          </a:xfrm>
          <a:prstGeom prst="ellipse">
            <a:avLst/>
          </a:prstGeom>
          <a:solidFill>
            <a:srgbClr val="35C4B5"/>
          </a:solidFill>
          <a:ln/>
        </p:spPr>
      </p:sp>
      <p:sp>
        <p:nvSpPr>
          <p:cNvPr id="14" name="Text 12"/>
          <p:cNvSpPr txBox="1"/>
          <p:nvPr/>
        </p:nvSpPr>
        <p:spPr>
          <a:xfrm>
            <a:off x="1024128" y="4599432"/>
            <a:ext cx="580644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control is what makes a count mean anything</a:t>
            </a:r>
            <a:endParaRPr lang="en-US" sz="1500" dirty="0"/>
          </a:p>
        </p:txBody>
      </p:sp>
      <p:sp>
        <p:nvSpPr>
          <p:cNvPr id="15" name="Text 13"/>
          <p:cNvSpPr txBox="1"/>
          <p:nvPr/>
        </p:nvSpPr>
        <p:spPr>
          <a:xfrm>
            <a:off x="1024128" y="4892040"/>
            <a:ext cx="5806440" cy="1051560"/>
          </a:xfrm>
          <a:prstGeom prst="rect">
            <a:avLst/>
          </a:prstGeom>
          <a:noFill/>
          <a:ln/>
        </p:spPr>
        <p:txBody>
          <a:bodyPr wrap="square" lIns="0" tIns="0" rIns="0" bIns="0" rtlCol="0" anchor="ctr"/>
          <a:lstStyle/>
          <a:p>
            <a:pPr indent="0" marL="0">
              <a:lnSpc>
                <a:spcPct val="116000"/>
              </a:lnSpc>
              <a:buNone/>
            </a:pPr>
            <a:r>
              <a:rPr lang="en-US" sz="1250" dirty="0">
                <a:solidFill>
                  <a:srgbClr val="97A3C4"/>
                </a:solidFill>
                <a:latin typeface="Calibri" pitchFamily="34" charset="0"/>
                <a:ea typeface="Calibri" pitchFamily="34" charset="-122"/>
                <a:cs typeface="Calibri" pitchFamily="34" charset="-120"/>
              </a:rPr>
              <a:t>Identical parameters with the noise switched off, through the identical detector, must return zero vortices. If it does not, the detector is firing on something that is not a vortex.</a:t>
            </a:r>
            <a:endParaRPr lang="en-US" sz="1250" dirty="0"/>
          </a:p>
        </p:txBody>
      </p:sp>
      <p:sp>
        <p:nvSpPr>
          <p:cNvPr id="16" name="Text 14"/>
          <p:cNvSpPr txBox="1"/>
          <p:nvPr/>
        </p:nvSpPr>
        <p:spPr>
          <a:xfrm>
            <a:off x="7315200" y="1901952"/>
            <a:ext cx="4206240" cy="274320"/>
          </a:xfrm>
          <a:prstGeom prst="rect">
            <a:avLst/>
          </a:prstGeom>
          <a:noFill/>
          <a:ln/>
        </p:spPr>
        <p:txBody>
          <a:bodyPr wrap="square" lIns="0" tIns="0" rIns="0" bIns="0" rtlCol="0" anchor="ctr"/>
          <a:lstStyle/>
          <a:p>
            <a:pPr indent="0" marL="0">
              <a:buNone/>
            </a:pPr>
            <a:r>
              <a:rPr lang="en-US" sz="1300" b="1" spc="60" kern="0" dirty="0">
                <a:solidFill>
                  <a:srgbClr val="35C4B5"/>
                </a:solidFill>
                <a:latin typeface="Calibri" pitchFamily="34" charset="0"/>
                <a:ea typeface="Calibri" pitchFamily="34" charset="-122"/>
                <a:cs typeface="Calibri" pitchFamily="34" charset="-120"/>
              </a:rPr>
              <a:t>How a vortex appears</a:t>
            </a:r>
            <a:endParaRPr lang="en-US" sz="1300" dirty="0"/>
          </a:p>
        </p:txBody>
      </p:sp>
      <p:sp>
        <p:nvSpPr>
          <p:cNvPr id="17" name="Shape 15"/>
          <p:cNvSpPr/>
          <p:nvPr/>
        </p:nvSpPr>
        <p:spPr>
          <a:xfrm>
            <a:off x="7333488" y="2423160"/>
            <a:ext cx="201168" cy="201168"/>
          </a:xfrm>
          <a:prstGeom prst="ellipse">
            <a:avLst/>
          </a:prstGeom>
          <a:solidFill>
            <a:srgbClr val="0B1026"/>
          </a:solidFill>
          <a:ln w="22225">
            <a:solidFill>
              <a:srgbClr val="6FA3F0"/>
            </a:solidFill>
            <a:prstDash val="solid"/>
          </a:ln>
        </p:spPr>
      </p:sp>
      <p:sp>
        <p:nvSpPr>
          <p:cNvPr id="18" name="Shape 16"/>
          <p:cNvSpPr/>
          <p:nvPr/>
        </p:nvSpPr>
        <p:spPr>
          <a:xfrm>
            <a:off x="7395850" y="2485522"/>
            <a:ext cx="76444" cy="76444"/>
          </a:xfrm>
          <a:prstGeom prst="ellipse">
            <a:avLst/>
          </a:prstGeom>
          <a:solidFill>
            <a:srgbClr val="6FA3F0"/>
          </a:solidFill>
          <a:ln/>
        </p:spPr>
      </p:sp>
      <p:sp>
        <p:nvSpPr>
          <p:cNvPr id="19" name="Shape 17"/>
          <p:cNvSpPr/>
          <p:nvPr/>
        </p:nvSpPr>
        <p:spPr>
          <a:xfrm>
            <a:off x="7434072" y="2670048"/>
            <a:ext cx="0" cy="566928"/>
          </a:xfrm>
          <a:prstGeom prst="line">
            <a:avLst/>
          </a:prstGeom>
          <a:noFill/>
          <a:ln w="15875">
            <a:solidFill>
              <a:srgbClr val="3B4778"/>
            </a:solidFill>
            <a:prstDash val="sysDot"/>
          </a:ln>
        </p:spPr>
      </p:sp>
      <p:sp>
        <p:nvSpPr>
          <p:cNvPr id="20" name="Text 18"/>
          <p:cNvSpPr txBox="1"/>
          <p:nvPr/>
        </p:nvSpPr>
        <p:spPr>
          <a:xfrm>
            <a:off x="7726680" y="2377440"/>
            <a:ext cx="384048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Two clouds close in</a:t>
            </a:r>
            <a:endParaRPr lang="en-US" sz="1350" dirty="0"/>
          </a:p>
        </p:txBody>
      </p:sp>
      <p:sp>
        <p:nvSpPr>
          <p:cNvPr id="21" name="Text 19"/>
          <p:cNvSpPr txBox="1"/>
          <p:nvPr/>
        </p:nvSpPr>
        <p:spPr>
          <a:xfrm>
            <a:off x="7726680" y="2624328"/>
            <a:ext cx="3840480" cy="457200"/>
          </a:xfrm>
          <a:prstGeom prst="rect">
            <a:avLst/>
          </a:prstGeom>
          <a:noFill/>
          <a:ln/>
        </p:spPr>
        <p:txBody>
          <a:bodyPr wrap="square" lIns="0" tIns="0" rIns="0" bIns="0" rtlCol="0" anchor="ctr"/>
          <a:lstStyle/>
          <a:p>
            <a:pPr indent="0" marL="0">
              <a:lnSpc>
                <a:spcPct val="110000"/>
              </a:lnSpc>
              <a:buNone/>
            </a:pPr>
            <a:r>
              <a:rPr lang="en-US" sz="1100" dirty="0">
                <a:solidFill>
                  <a:srgbClr val="97A3C4"/>
                </a:solidFill>
                <a:latin typeface="Calibri" pitchFamily="34" charset="0"/>
                <a:ea typeface="Calibri" pitchFamily="34" charset="-122"/>
                <a:cs typeface="Calibri" pitchFamily="34" charset="-120"/>
              </a:rPr>
              <a:t>relative velocity v, set from the source paper</a:t>
            </a:r>
            <a:endParaRPr lang="en-US" sz="1100" dirty="0"/>
          </a:p>
        </p:txBody>
      </p:sp>
      <p:sp>
        <p:nvSpPr>
          <p:cNvPr id="22" name="Shape 20"/>
          <p:cNvSpPr/>
          <p:nvPr/>
        </p:nvSpPr>
        <p:spPr>
          <a:xfrm>
            <a:off x="7333488" y="3273552"/>
            <a:ext cx="201168" cy="201168"/>
          </a:xfrm>
          <a:prstGeom prst="ellipse">
            <a:avLst/>
          </a:prstGeom>
          <a:solidFill>
            <a:srgbClr val="0B1026"/>
          </a:solidFill>
          <a:ln w="22225">
            <a:solidFill>
              <a:srgbClr val="6FA3F0"/>
            </a:solidFill>
            <a:prstDash val="solid"/>
          </a:ln>
        </p:spPr>
      </p:sp>
      <p:sp>
        <p:nvSpPr>
          <p:cNvPr id="23" name="Shape 21"/>
          <p:cNvSpPr/>
          <p:nvPr/>
        </p:nvSpPr>
        <p:spPr>
          <a:xfrm>
            <a:off x="7395850" y="3335914"/>
            <a:ext cx="76444" cy="76444"/>
          </a:xfrm>
          <a:prstGeom prst="ellipse">
            <a:avLst/>
          </a:prstGeom>
          <a:solidFill>
            <a:srgbClr val="6FA3F0"/>
          </a:solidFill>
          <a:ln/>
        </p:spPr>
      </p:sp>
      <p:sp>
        <p:nvSpPr>
          <p:cNvPr id="24" name="Shape 22"/>
          <p:cNvSpPr/>
          <p:nvPr/>
        </p:nvSpPr>
        <p:spPr>
          <a:xfrm>
            <a:off x="7434072" y="3520440"/>
            <a:ext cx="0" cy="566928"/>
          </a:xfrm>
          <a:prstGeom prst="line">
            <a:avLst/>
          </a:prstGeom>
          <a:noFill/>
          <a:ln w="15875">
            <a:solidFill>
              <a:srgbClr val="3B4778"/>
            </a:solidFill>
            <a:prstDash val="sysDot"/>
          </a:ln>
        </p:spPr>
      </p:sp>
      <p:sp>
        <p:nvSpPr>
          <p:cNvPr id="25" name="Text 23"/>
          <p:cNvSpPr txBox="1"/>
          <p:nvPr/>
        </p:nvSpPr>
        <p:spPr>
          <a:xfrm>
            <a:off x="7726680" y="3227832"/>
            <a:ext cx="384048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Matter-wave fringes</a:t>
            </a:r>
            <a:endParaRPr lang="en-US" sz="1350" dirty="0"/>
          </a:p>
        </p:txBody>
      </p:sp>
      <p:sp>
        <p:nvSpPr>
          <p:cNvPr id="26" name="Text 24"/>
          <p:cNvSpPr txBox="1"/>
          <p:nvPr/>
        </p:nvSpPr>
        <p:spPr>
          <a:xfrm>
            <a:off x="7726680" y="3474720"/>
            <a:ext cx="3840480" cy="457200"/>
          </a:xfrm>
          <a:prstGeom prst="rect">
            <a:avLst/>
          </a:prstGeom>
          <a:noFill/>
          <a:ln/>
        </p:spPr>
        <p:txBody>
          <a:bodyPr wrap="square" lIns="0" tIns="0" rIns="0" bIns="0" rtlCol="0" anchor="ctr"/>
          <a:lstStyle/>
          <a:p>
            <a:pPr indent="0" marL="0">
              <a:lnSpc>
                <a:spcPct val="110000"/>
              </a:lnSpc>
              <a:buNone/>
            </a:pPr>
            <a:r>
              <a:rPr lang="en-US" sz="1100" dirty="0">
                <a:solidFill>
                  <a:srgbClr val="97A3C4"/>
                </a:solidFill>
                <a:latin typeface="Calibri" pitchFamily="34" charset="0"/>
                <a:ea typeface="Calibri" pitchFamily="34" charset="-122"/>
                <a:cs typeface="Calibri" pitchFamily="34" charset="-120"/>
              </a:rPr>
              <a:t>spacing π / v where the clouds overlap</a:t>
            </a:r>
            <a:endParaRPr lang="en-US" sz="1100" dirty="0"/>
          </a:p>
        </p:txBody>
      </p:sp>
      <p:sp>
        <p:nvSpPr>
          <p:cNvPr id="27" name="Shape 25"/>
          <p:cNvSpPr/>
          <p:nvPr/>
        </p:nvSpPr>
        <p:spPr>
          <a:xfrm>
            <a:off x="7333488" y="4123944"/>
            <a:ext cx="201168" cy="201168"/>
          </a:xfrm>
          <a:prstGeom prst="ellipse">
            <a:avLst/>
          </a:prstGeom>
          <a:solidFill>
            <a:srgbClr val="0B1026"/>
          </a:solidFill>
          <a:ln w="22225">
            <a:solidFill>
              <a:srgbClr val="6FA3F0"/>
            </a:solidFill>
            <a:prstDash val="solid"/>
          </a:ln>
        </p:spPr>
      </p:sp>
      <p:sp>
        <p:nvSpPr>
          <p:cNvPr id="28" name="Shape 26"/>
          <p:cNvSpPr/>
          <p:nvPr/>
        </p:nvSpPr>
        <p:spPr>
          <a:xfrm>
            <a:off x="7395850" y="4186306"/>
            <a:ext cx="76444" cy="76444"/>
          </a:xfrm>
          <a:prstGeom prst="ellipse">
            <a:avLst/>
          </a:prstGeom>
          <a:solidFill>
            <a:srgbClr val="6FA3F0"/>
          </a:solidFill>
          <a:ln/>
        </p:spPr>
      </p:sp>
      <p:sp>
        <p:nvSpPr>
          <p:cNvPr id="29" name="Shape 27"/>
          <p:cNvSpPr/>
          <p:nvPr/>
        </p:nvSpPr>
        <p:spPr>
          <a:xfrm>
            <a:off x="7434072" y="4370832"/>
            <a:ext cx="0" cy="566928"/>
          </a:xfrm>
          <a:prstGeom prst="line">
            <a:avLst/>
          </a:prstGeom>
          <a:noFill/>
          <a:ln w="15875">
            <a:solidFill>
              <a:srgbClr val="3B4778"/>
            </a:solidFill>
            <a:prstDash val="sysDot"/>
          </a:ln>
        </p:spPr>
      </p:sp>
      <p:sp>
        <p:nvSpPr>
          <p:cNvPr id="30" name="Text 28"/>
          <p:cNvSpPr txBox="1"/>
          <p:nvPr/>
        </p:nvSpPr>
        <p:spPr>
          <a:xfrm>
            <a:off x="7726680" y="4078224"/>
            <a:ext cx="384048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Grey solitons</a:t>
            </a:r>
            <a:endParaRPr lang="en-US" sz="1350" dirty="0"/>
          </a:p>
        </p:txBody>
      </p:sp>
      <p:sp>
        <p:nvSpPr>
          <p:cNvPr id="31" name="Text 29"/>
          <p:cNvSpPr txBox="1"/>
          <p:nvPr/>
        </p:nvSpPr>
        <p:spPr>
          <a:xfrm>
            <a:off x="7726680" y="4325112"/>
            <a:ext cx="3840480" cy="457200"/>
          </a:xfrm>
          <a:prstGeom prst="rect">
            <a:avLst/>
          </a:prstGeom>
          <a:noFill/>
          <a:ln/>
        </p:spPr>
        <p:txBody>
          <a:bodyPr wrap="square" lIns="0" tIns="0" rIns="0" bIns="0" rtlCol="0" anchor="ctr"/>
          <a:lstStyle/>
          <a:p>
            <a:pPr indent="0" marL="0">
              <a:lnSpc>
                <a:spcPct val="110000"/>
              </a:lnSpc>
              <a:buNone/>
            </a:pPr>
            <a:r>
              <a:rPr lang="en-US" sz="1100" dirty="0">
                <a:solidFill>
                  <a:srgbClr val="97A3C4"/>
                </a:solidFill>
                <a:latin typeface="Calibri" pitchFamily="34" charset="0"/>
                <a:ea typeface="Calibri" pitchFamily="34" charset="-122"/>
                <a:cs typeface="Calibri" pitchFamily="34" charset="-120"/>
              </a:rPr>
              <a:t>the density minima between the fringes</a:t>
            </a:r>
            <a:endParaRPr lang="en-US" sz="1100" dirty="0"/>
          </a:p>
        </p:txBody>
      </p:sp>
      <p:sp>
        <p:nvSpPr>
          <p:cNvPr id="32" name="Shape 30"/>
          <p:cNvSpPr/>
          <p:nvPr/>
        </p:nvSpPr>
        <p:spPr>
          <a:xfrm>
            <a:off x="7333488" y="4974336"/>
            <a:ext cx="201168" cy="201168"/>
          </a:xfrm>
          <a:prstGeom prst="ellipse">
            <a:avLst/>
          </a:prstGeom>
          <a:solidFill>
            <a:srgbClr val="0B1026"/>
          </a:solidFill>
          <a:ln w="22225">
            <a:solidFill>
              <a:srgbClr val="E05C4A"/>
            </a:solidFill>
            <a:prstDash val="solid"/>
          </a:ln>
        </p:spPr>
      </p:sp>
      <p:sp>
        <p:nvSpPr>
          <p:cNvPr id="33" name="Shape 31"/>
          <p:cNvSpPr/>
          <p:nvPr/>
        </p:nvSpPr>
        <p:spPr>
          <a:xfrm>
            <a:off x="7395850" y="5036698"/>
            <a:ext cx="76444" cy="76444"/>
          </a:xfrm>
          <a:prstGeom prst="ellipse">
            <a:avLst/>
          </a:prstGeom>
          <a:solidFill>
            <a:srgbClr val="E05C4A"/>
          </a:solidFill>
          <a:ln/>
        </p:spPr>
      </p:sp>
      <p:sp>
        <p:nvSpPr>
          <p:cNvPr id="34" name="Text 32"/>
          <p:cNvSpPr txBox="1"/>
          <p:nvPr/>
        </p:nvSpPr>
        <p:spPr>
          <a:xfrm>
            <a:off x="7726680" y="4928616"/>
            <a:ext cx="384048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Snake instability</a:t>
            </a:r>
            <a:endParaRPr lang="en-US" sz="1350" dirty="0"/>
          </a:p>
        </p:txBody>
      </p:sp>
      <p:sp>
        <p:nvSpPr>
          <p:cNvPr id="35" name="Text 33"/>
          <p:cNvSpPr txBox="1"/>
          <p:nvPr/>
        </p:nvSpPr>
        <p:spPr>
          <a:xfrm>
            <a:off x="7726680" y="5175504"/>
            <a:ext cx="3840480" cy="457200"/>
          </a:xfrm>
          <a:prstGeom prst="rect">
            <a:avLst/>
          </a:prstGeom>
          <a:noFill/>
          <a:ln/>
        </p:spPr>
        <p:txBody>
          <a:bodyPr wrap="square" lIns="0" tIns="0" rIns="0" bIns="0" rtlCol="0" anchor="ctr"/>
          <a:lstStyle/>
          <a:p>
            <a:pPr indent="0" marL="0">
              <a:lnSpc>
                <a:spcPct val="110000"/>
              </a:lnSpc>
              <a:buNone/>
            </a:pPr>
            <a:r>
              <a:rPr lang="en-US" sz="1100" dirty="0">
                <a:solidFill>
                  <a:srgbClr val="97A3C4"/>
                </a:solidFill>
                <a:latin typeface="Calibri" pitchFamily="34" charset="0"/>
                <a:ea typeface="Calibri" pitchFamily="34" charset="-122"/>
                <a:cs typeface="Calibri" pitchFamily="34" charset="-120"/>
              </a:rPr>
              <a:t>solitons buckle and decay into vortex rings and lines</a:t>
            </a:r>
            <a:endParaRPr lang="en-US" sz="1100" dirty="0"/>
          </a:p>
        </p:txBody>
      </p:sp>
      <p:sp>
        <p:nvSpPr>
          <p:cNvPr id="36" name="Text 34"/>
          <p:cNvSpPr txBox="1"/>
          <p:nvPr/>
        </p:nvSpPr>
        <p:spPr>
          <a:xfrm>
            <a:off x="640080" y="6089904"/>
            <a:ext cx="10881360" cy="329184"/>
          </a:xfrm>
          <a:prstGeom prst="rect">
            <a:avLst/>
          </a:prstGeom>
          <a:noFill/>
          <a:ln/>
        </p:spPr>
        <p:txBody>
          <a:bodyPr wrap="square" lIns="0" tIns="0" rIns="0" bIns="0" rtlCol="0" anchor="ctr"/>
          <a:lstStyle/>
          <a:p>
            <a:pPr indent="0" marL="0">
              <a:buNone/>
            </a:pPr>
            <a:r>
              <a:rPr lang="en-US" sz="1150" dirty="0">
                <a:solidFill>
                  <a:srgbClr val="97A3C4"/>
                </a:solidFill>
                <a:latin typeface="Calibri" pitchFamily="34" charset="0"/>
                <a:ea typeface="Calibri" pitchFamily="34" charset="-122"/>
                <a:cs typeface="Calibri" pitchFamily="34" charset="-120"/>
              </a:rPr>
              <a:t>Calibrated to </a:t>
            </a:r>
            <a:pPr indent="0" marL="0">
              <a:buNone/>
            </a:pPr>
            <a:r>
              <a:rPr lang="en-US" sz="1150" b="1" dirty="0">
                <a:solidFill>
                  <a:srgbClr val="FFFFFF"/>
                </a:solidFill>
                <a:latin typeface="Calibri" pitchFamily="34" charset="0"/>
                <a:ea typeface="Calibri" pitchFamily="34" charset="-122"/>
                <a:cs typeface="Calibri" pitchFamily="34" charset="-120"/>
              </a:rPr>
              <a:t>Norrie, Ballagh &amp; Gardiner, PRA 73, 043617 (2006)</a:t>
            </a:r>
            <a:pPr indent="0" marL="0">
              <a:buNone/>
            </a:pPr>
            <a:r>
              <a:rPr lang="en-US" sz="1150" dirty="0">
                <a:solidFill>
                  <a:srgbClr val="97A3C4"/>
                </a:solidFill>
                <a:latin typeface="Calibri" pitchFamily="34" charset="0"/>
                <a:ea typeface="Calibri" pitchFamily="34" charset="-122"/>
                <a:cs typeface="Calibri" pitchFamily="34" charset="-120"/>
              </a:rPr>
              <a:t>   ·   ωₓ = 2π × 4.57 Hz   ·   a = 2.75 nm   ·   our g = 3.52 × 10⁻³ reproduces their dimensionless coupling to 0.35%</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640080" y="310896"/>
            <a:ext cx="5486400" cy="274320"/>
          </a:xfrm>
          <a:prstGeom prst="rect">
            <a:avLst/>
          </a:prstGeom>
          <a:noFill/>
          <a:ln/>
        </p:spPr>
        <p:txBody>
          <a:bodyPr wrap="square" lIns="0" tIns="0" rIns="0" bIns="0" rtlCol="0" anchor="ctr"/>
          <a:lstStyle/>
          <a:p>
            <a:pPr indent="0" marL="0">
              <a:buNone/>
            </a:pPr>
            <a:r>
              <a:rPr lang="en-US" sz="1150" b="1" spc="240" kern="0" dirty="0">
                <a:solidFill>
                  <a:srgbClr val="0F7A72"/>
                </a:solidFill>
                <a:latin typeface="Calibri" pitchFamily="34" charset="0"/>
                <a:ea typeface="Calibri" pitchFamily="34" charset="-122"/>
                <a:cs typeface="Calibri" pitchFamily="34" charset="-120"/>
              </a:rPr>
              <a:t>02   NUMERICS</a:t>
            </a:r>
            <a:endParaRPr lang="en-US" sz="115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800" b="1" dirty="0">
                <a:solidFill>
                  <a:srgbClr val="0B1026"/>
                </a:solidFill>
                <a:latin typeface="Cambria" pitchFamily="34" charset="0"/>
                <a:ea typeface="Cambria" pitchFamily="34" charset="-122"/>
                <a:cs typeface="Cambria" pitchFamily="34" charset="-120"/>
              </a:rPr>
              <a:t>How it is solved</a:t>
            </a:r>
            <a:endParaRPr lang="en-US" sz="3800" dirty="0"/>
          </a:p>
        </p:txBody>
      </p:sp>
      <p:sp>
        <p:nvSpPr>
          <p:cNvPr id="4" name="Text 2"/>
          <p:cNvSpPr txBox="1"/>
          <p:nvPr/>
        </p:nvSpPr>
        <p:spPr>
          <a:xfrm>
            <a:off x="640080" y="1298448"/>
            <a:ext cx="10881360" cy="365760"/>
          </a:xfrm>
          <a:prstGeom prst="rect">
            <a:avLst/>
          </a:prstGeom>
          <a:noFill/>
          <a:ln/>
        </p:spPr>
        <p:txBody>
          <a:bodyPr wrap="square" lIns="0" tIns="0" rIns="0" bIns="0" rtlCol="0" anchor="ctr"/>
          <a:lstStyle/>
          <a:p>
            <a:pPr indent="0" marL="0">
              <a:buNone/>
            </a:pPr>
            <a:r>
              <a:rPr lang="en-US" sz="1450" dirty="0">
                <a:solidFill>
                  <a:srgbClr val="5C6784"/>
                </a:solidFill>
                <a:latin typeface="Calibri" pitchFamily="34" charset="0"/>
                <a:ea typeface="Calibri" pitchFamily="34" charset="-122"/>
                <a:cs typeface="Calibri" pitchFamily="34" charset="-120"/>
              </a:rPr>
              <a:t>Spectral propagation, a physically-anchored noise cutoff, and a detector that can tell a vortex from a soliton.</a:t>
            </a:r>
            <a:endParaRPr lang="en-US" sz="1450" dirty="0"/>
          </a:p>
        </p:txBody>
      </p:sp>
      <p:sp>
        <p:nvSpPr>
          <p:cNvPr id="5" name="Shape 3"/>
          <p:cNvSpPr/>
          <p:nvPr/>
        </p:nvSpPr>
        <p:spPr>
          <a:xfrm>
            <a:off x="640080" y="1847088"/>
            <a:ext cx="5166360" cy="2139696"/>
          </a:xfrm>
          <a:prstGeom prst="roundRect">
            <a:avLst>
              <a:gd name="adj" fmla="val 2564"/>
            </a:avLst>
          </a:prstGeom>
          <a:solidFill>
            <a:srgbClr val="FFFFFF"/>
          </a:solidFill>
          <a:ln/>
          <a:effectLst>
            <a:outerShdw sx="100000" sy="100000" kx="0" ky="0" algn="bl" rotWithShape="0" blurRad="127000" dist="25400" dir="5400000">
              <a:srgbClr val="9AA6C0">
                <a:alpha val="24000"/>
              </a:srgbClr>
            </a:outerShdw>
          </a:effectLst>
        </p:spPr>
      </p:sp>
      <p:sp>
        <p:nvSpPr>
          <p:cNvPr id="6" name="Shape 4"/>
          <p:cNvSpPr/>
          <p:nvPr/>
        </p:nvSpPr>
        <p:spPr>
          <a:xfrm>
            <a:off x="914400" y="2103120"/>
            <a:ext cx="201168" cy="201168"/>
          </a:xfrm>
          <a:prstGeom prst="ellipse">
            <a:avLst/>
          </a:prstGeom>
          <a:solidFill>
            <a:srgbClr val="FFFFFF"/>
          </a:solidFill>
          <a:ln w="22225">
            <a:solidFill>
              <a:srgbClr val="35C4B5"/>
            </a:solidFill>
            <a:prstDash val="solid"/>
          </a:ln>
        </p:spPr>
      </p:sp>
      <p:sp>
        <p:nvSpPr>
          <p:cNvPr id="7" name="Shape 5"/>
          <p:cNvSpPr/>
          <p:nvPr/>
        </p:nvSpPr>
        <p:spPr>
          <a:xfrm>
            <a:off x="976762" y="2165482"/>
            <a:ext cx="76444" cy="76444"/>
          </a:xfrm>
          <a:prstGeom prst="ellipse">
            <a:avLst/>
          </a:prstGeom>
          <a:solidFill>
            <a:srgbClr val="35C4B5"/>
          </a:solidFill>
          <a:ln/>
        </p:spPr>
      </p:sp>
      <p:sp>
        <p:nvSpPr>
          <p:cNvPr id="8" name="Text 6"/>
          <p:cNvSpPr txBox="1"/>
          <p:nvPr/>
        </p:nvSpPr>
        <p:spPr>
          <a:xfrm>
            <a:off x="1261872" y="2057400"/>
            <a:ext cx="4297680" cy="292608"/>
          </a:xfrm>
          <a:prstGeom prst="rect">
            <a:avLst/>
          </a:prstGeom>
          <a:noFill/>
          <a:ln/>
        </p:spPr>
        <p:txBody>
          <a:bodyPr wrap="square" lIns="0" tIns="0" rIns="0" bIns="0" rtlCol="0" anchor="ctr"/>
          <a:lstStyle/>
          <a:p>
            <a:pPr indent="0" marL="0">
              <a:buNone/>
            </a:pPr>
            <a:r>
              <a:rPr lang="en-US" sz="1650" b="1" dirty="0">
                <a:solidFill>
                  <a:srgbClr val="0B1026"/>
                </a:solidFill>
                <a:latin typeface="Calibri" pitchFamily="34" charset="0"/>
                <a:ea typeface="Calibri" pitchFamily="34" charset="-122"/>
                <a:cs typeface="Calibri" pitchFamily="34" charset="-120"/>
              </a:rPr>
              <a:t>Propagation</a:t>
            </a:r>
            <a:endParaRPr lang="en-US" sz="1650" dirty="0"/>
          </a:p>
        </p:txBody>
      </p:sp>
      <p:sp>
        <p:nvSpPr>
          <p:cNvPr id="9" name="Text 7"/>
          <p:cNvSpPr txBox="1"/>
          <p:nvPr/>
        </p:nvSpPr>
        <p:spPr>
          <a:xfrm>
            <a:off x="914400" y="2450592"/>
            <a:ext cx="4617720" cy="1371600"/>
          </a:xfrm>
          <a:prstGeom prst="rect">
            <a:avLst/>
          </a:prstGeom>
          <a:noFill/>
          <a:ln/>
        </p:spPr>
        <p:txBody>
          <a:bodyPr wrap="square" lIns="0" tIns="0" rIns="0" bIns="0" rtlCol="0" anchor="ctr"/>
          <a:lstStyle/>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Split-step Fourier: kinetic term in k-space, trap and interaction in real space.</a:t>
            </a:r>
            <a:endParaRPr lang="en-US" sz="1100" dirty="0"/>
          </a:p>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Strang O(dt²), or a Yoshida composition at O(dt⁴) for 3× the work per step.</a:t>
            </a:r>
            <a:endParaRPr lang="en-US" sz="1100" dirty="0"/>
          </a:p>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Both factors are pure phases, so the scheme is norm-preserving for any dt — dt is an accuracy choice, never a stability limit.</a:t>
            </a:r>
            <a:endParaRPr lang="en-US" sz="1100" dirty="0"/>
          </a:p>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Ground state by imaginary-time relaxation (normalised gradient flow).</a:t>
            </a:r>
            <a:endParaRPr lang="en-US" sz="1100" dirty="0"/>
          </a:p>
        </p:txBody>
      </p:sp>
      <p:sp>
        <p:nvSpPr>
          <p:cNvPr id="10" name="Shape 8"/>
          <p:cNvSpPr/>
          <p:nvPr/>
        </p:nvSpPr>
        <p:spPr>
          <a:xfrm>
            <a:off x="6355080" y="1847088"/>
            <a:ext cx="5166360" cy="2139696"/>
          </a:xfrm>
          <a:prstGeom prst="roundRect">
            <a:avLst>
              <a:gd name="adj" fmla="val 2564"/>
            </a:avLst>
          </a:prstGeom>
          <a:solidFill>
            <a:srgbClr val="FFFFFF"/>
          </a:solidFill>
          <a:ln/>
          <a:effectLst>
            <a:outerShdw sx="100000" sy="100000" kx="0" ky="0" algn="bl" rotWithShape="0" blurRad="127000" dist="25400" dir="5400000">
              <a:srgbClr val="9AA6C0">
                <a:alpha val="24000"/>
              </a:srgbClr>
            </a:outerShdw>
          </a:effectLst>
        </p:spPr>
      </p:sp>
      <p:sp>
        <p:nvSpPr>
          <p:cNvPr id="11" name="Shape 9"/>
          <p:cNvSpPr/>
          <p:nvPr/>
        </p:nvSpPr>
        <p:spPr>
          <a:xfrm>
            <a:off x="6629400" y="2103120"/>
            <a:ext cx="201168" cy="201168"/>
          </a:xfrm>
          <a:prstGeom prst="ellipse">
            <a:avLst/>
          </a:prstGeom>
          <a:solidFill>
            <a:srgbClr val="FFFFFF"/>
          </a:solidFill>
          <a:ln w="22225">
            <a:solidFill>
              <a:srgbClr val="6FA3F0"/>
            </a:solidFill>
            <a:prstDash val="solid"/>
          </a:ln>
        </p:spPr>
      </p:sp>
      <p:sp>
        <p:nvSpPr>
          <p:cNvPr id="12" name="Shape 10"/>
          <p:cNvSpPr/>
          <p:nvPr/>
        </p:nvSpPr>
        <p:spPr>
          <a:xfrm>
            <a:off x="6691762" y="2165482"/>
            <a:ext cx="76444" cy="76444"/>
          </a:xfrm>
          <a:prstGeom prst="ellipse">
            <a:avLst/>
          </a:prstGeom>
          <a:solidFill>
            <a:srgbClr val="6FA3F0"/>
          </a:solidFill>
          <a:ln/>
        </p:spPr>
      </p:sp>
      <p:sp>
        <p:nvSpPr>
          <p:cNvPr id="13" name="Text 11"/>
          <p:cNvSpPr txBox="1"/>
          <p:nvPr/>
        </p:nvSpPr>
        <p:spPr>
          <a:xfrm>
            <a:off x="6976872" y="2057400"/>
            <a:ext cx="4297680" cy="292608"/>
          </a:xfrm>
          <a:prstGeom prst="rect">
            <a:avLst/>
          </a:prstGeom>
          <a:noFill/>
          <a:ln/>
        </p:spPr>
        <p:txBody>
          <a:bodyPr wrap="square" lIns="0" tIns="0" rIns="0" bIns="0" rtlCol="0" anchor="ctr"/>
          <a:lstStyle/>
          <a:p>
            <a:pPr indent="0" marL="0">
              <a:buNone/>
            </a:pPr>
            <a:r>
              <a:rPr lang="en-US" sz="1650" b="1" dirty="0">
                <a:solidFill>
                  <a:srgbClr val="0B1026"/>
                </a:solidFill>
                <a:latin typeface="Calibri" pitchFamily="34" charset="0"/>
                <a:ea typeface="Calibri" pitchFamily="34" charset="-122"/>
                <a:cs typeface="Calibri" pitchFamily="34" charset="-120"/>
              </a:rPr>
              <a:t>Quantum noise</a:t>
            </a:r>
            <a:endParaRPr lang="en-US" sz="1650" dirty="0"/>
          </a:p>
        </p:txBody>
      </p:sp>
      <p:sp>
        <p:nvSpPr>
          <p:cNvPr id="14" name="Text 12"/>
          <p:cNvSpPr txBox="1"/>
          <p:nvPr/>
        </p:nvSpPr>
        <p:spPr>
          <a:xfrm>
            <a:off x="6629400" y="2450592"/>
            <a:ext cx="4617720" cy="1371600"/>
          </a:xfrm>
          <a:prstGeom prst="rect">
            <a:avLst/>
          </a:prstGeom>
          <a:noFill/>
          <a:ln/>
        </p:spPr>
        <p:txBody>
          <a:bodyPr wrap="square" lIns="0" tIns="0" rIns="0" bIns="0" rtlCol="0" anchor="ctr"/>
          <a:lstStyle/>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Every k-mode below a cutoff carries an independent complex Gaussian: half a quantum at T = 0, plus the Bose occupation above it.</a:t>
            </a:r>
            <a:endParaRPr lang="en-US" sz="1100" dirty="0"/>
          </a:p>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The cutoff is tied to the interaction energy, not to the grid — otherwise the answer would depend on the resolution.</a:t>
            </a:r>
            <a:endParaRPr lang="en-US" sz="1100" dirty="0"/>
          </a:p>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Wigner ordering correction: the noise's own particle content is subtracted from the raw ensemble density.</a:t>
            </a:r>
            <a:endParaRPr lang="en-US" sz="1100" dirty="0"/>
          </a:p>
        </p:txBody>
      </p:sp>
      <p:sp>
        <p:nvSpPr>
          <p:cNvPr id="15" name="Shape 13"/>
          <p:cNvSpPr/>
          <p:nvPr/>
        </p:nvSpPr>
        <p:spPr>
          <a:xfrm>
            <a:off x="640080" y="4133088"/>
            <a:ext cx="5166360" cy="2139696"/>
          </a:xfrm>
          <a:prstGeom prst="roundRect">
            <a:avLst>
              <a:gd name="adj" fmla="val 2564"/>
            </a:avLst>
          </a:prstGeom>
          <a:solidFill>
            <a:srgbClr val="FFFFFF"/>
          </a:solidFill>
          <a:ln/>
          <a:effectLst>
            <a:outerShdw sx="100000" sy="100000" kx="0" ky="0" algn="bl" rotWithShape="0" blurRad="127000" dist="25400" dir="5400000">
              <a:srgbClr val="9AA6C0">
                <a:alpha val="24000"/>
              </a:srgbClr>
            </a:outerShdw>
          </a:effectLst>
        </p:spPr>
      </p:sp>
      <p:sp>
        <p:nvSpPr>
          <p:cNvPr id="16" name="Shape 14"/>
          <p:cNvSpPr/>
          <p:nvPr/>
        </p:nvSpPr>
        <p:spPr>
          <a:xfrm>
            <a:off x="914400" y="4389120"/>
            <a:ext cx="201168" cy="201168"/>
          </a:xfrm>
          <a:prstGeom prst="ellipse">
            <a:avLst/>
          </a:prstGeom>
          <a:solidFill>
            <a:srgbClr val="FFFFFF"/>
          </a:solidFill>
          <a:ln w="22225">
            <a:solidFill>
              <a:srgbClr val="E05C4A"/>
            </a:solidFill>
            <a:prstDash val="solid"/>
          </a:ln>
        </p:spPr>
      </p:sp>
      <p:sp>
        <p:nvSpPr>
          <p:cNvPr id="17" name="Shape 15"/>
          <p:cNvSpPr/>
          <p:nvPr/>
        </p:nvSpPr>
        <p:spPr>
          <a:xfrm>
            <a:off x="976762" y="4451482"/>
            <a:ext cx="76444" cy="76444"/>
          </a:xfrm>
          <a:prstGeom prst="ellipse">
            <a:avLst/>
          </a:prstGeom>
          <a:solidFill>
            <a:srgbClr val="E05C4A"/>
          </a:solidFill>
          <a:ln/>
        </p:spPr>
      </p:sp>
      <p:sp>
        <p:nvSpPr>
          <p:cNvPr id="18" name="Text 16"/>
          <p:cNvSpPr txBox="1"/>
          <p:nvPr/>
        </p:nvSpPr>
        <p:spPr>
          <a:xfrm>
            <a:off x="1261872" y="4343400"/>
            <a:ext cx="4297680" cy="292608"/>
          </a:xfrm>
          <a:prstGeom prst="rect">
            <a:avLst/>
          </a:prstGeom>
          <a:noFill/>
          <a:ln/>
        </p:spPr>
        <p:txBody>
          <a:bodyPr wrap="square" lIns="0" tIns="0" rIns="0" bIns="0" rtlCol="0" anchor="ctr"/>
          <a:lstStyle/>
          <a:p>
            <a:pPr indent="0" marL="0">
              <a:buNone/>
            </a:pPr>
            <a:r>
              <a:rPr lang="en-US" sz="1650" b="1" dirty="0">
                <a:solidFill>
                  <a:srgbClr val="0B1026"/>
                </a:solidFill>
                <a:latin typeface="Calibri" pitchFamily="34" charset="0"/>
                <a:ea typeface="Calibri" pitchFamily="34" charset="-122"/>
                <a:cs typeface="Calibri" pitchFamily="34" charset="-120"/>
              </a:rPr>
              <a:t>Vortex detection</a:t>
            </a:r>
            <a:endParaRPr lang="en-US" sz="1650" dirty="0"/>
          </a:p>
        </p:txBody>
      </p:sp>
      <p:sp>
        <p:nvSpPr>
          <p:cNvPr id="19" name="Text 17"/>
          <p:cNvSpPr txBox="1"/>
          <p:nvPr/>
        </p:nvSpPr>
        <p:spPr>
          <a:xfrm>
            <a:off x="914400" y="4736592"/>
            <a:ext cx="4617720" cy="1371600"/>
          </a:xfrm>
          <a:prstGeom prst="rect">
            <a:avLst/>
          </a:prstGeom>
          <a:noFill/>
          <a:ln/>
        </p:spPr>
        <p:txBody>
          <a:bodyPr wrap="square" lIns="0" tIns="0" rIns="0" bIns="0" rtlCol="0" anchor="ctr"/>
          <a:lstStyle/>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Phase winding around each grid plaquette, swept over all three plane families — a line is found by the planes it pierces.</a:t>
            </a:r>
            <a:endParaRPr lang="en-US" sz="1100" dirty="0"/>
          </a:p>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The winding is an integer for a resolved core, which is a free resolution check: the detector raises when it is not.</a:t>
            </a:r>
            <a:endParaRPr lang="en-US" sz="1100" dirty="0"/>
          </a:p>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Pierce points are linked into lines; total line length L(t) is the reported observable, not the jumpy integer count.</a:t>
            </a:r>
            <a:endParaRPr lang="en-US" sz="1100" dirty="0"/>
          </a:p>
        </p:txBody>
      </p:sp>
      <p:sp>
        <p:nvSpPr>
          <p:cNvPr id="20" name="Shape 18"/>
          <p:cNvSpPr/>
          <p:nvPr/>
        </p:nvSpPr>
        <p:spPr>
          <a:xfrm>
            <a:off x="6355080" y="4133088"/>
            <a:ext cx="5166360" cy="2139696"/>
          </a:xfrm>
          <a:prstGeom prst="roundRect">
            <a:avLst>
              <a:gd name="adj" fmla="val 2564"/>
            </a:avLst>
          </a:prstGeom>
          <a:solidFill>
            <a:srgbClr val="FFFFFF"/>
          </a:solidFill>
          <a:ln/>
          <a:effectLst>
            <a:outerShdw sx="100000" sy="100000" kx="0" ky="0" algn="bl" rotWithShape="0" blurRad="127000" dist="25400" dir="5400000">
              <a:srgbClr val="9AA6C0">
                <a:alpha val="24000"/>
              </a:srgbClr>
            </a:outerShdw>
          </a:effectLst>
        </p:spPr>
      </p:sp>
      <p:sp>
        <p:nvSpPr>
          <p:cNvPr id="21" name="Shape 19"/>
          <p:cNvSpPr/>
          <p:nvPr/>
        </p:nvSpPr>
        <p:spPr>
          <a:xfrm>
            <a:off x="6629400" y="4389120"/>
            <a:ext cx="201168" cy="201168"/>
          </a:xfrm>
          <a:prstGeom prst="ellipse">
            <a:avLst/>
          </a:prstGeom>
          <a:solidFill>
            <a:srgbClr val="FFFFFF"/>
          </a:solidFill>
          <a:ln w="22225">
            <a:solidFill>
              <a:srgbClr val="F2B441"/>
            </a:solidFill>
            <a:prstDash val="solid"/>
          </a:ln>
        </p:spPr>
      </p:sp>
      <p:sp>
        <p:nvSpPr>
          <p:cNvPr id="22" name="Shape 20"/>
          <p:cNvSpPr/>
          <p:nvPr/>
        </p:nvSpPr>
        <p:spPr>
          <a:xfrm>
            <a:off x="6691762" y="4451482"/>
            <a:ext cx="76444" cy="76444"/>
          </a:xfrm>
          <a:prstGeom prst="ellipse">
            <a:avLst/>
          </a:prstGeom>
          <a:solidFill>
            <a:srgbClr val="F2B441"/>
          </a:solidFill>
          <a:ln/>
        </p:spPr>
      </p:sp>
      <p:sp>
        <p:nvSpPr>
          <p:cNvPr id="23" name="Text 21"/>
          <p:cNvSpPr txBox="1"/>
          <p:nvPr/>
        </p:nvSpPr>
        <p:spPr>
          <a:xfrm>
            <a:off x="6976872" y="4343400"/>
            <a:ext cx="4297680" cy="292608"/>
          </a:xfrm>
          <a:prstGeom prst="rect">
            <a:avLst/>
          </a:prstGeom>
          <a:noFill/>
          <a:ln/>
        </p:spPr>
        <p:txBody>
          <a:bodyPr wrap="square" lIns="0" tIns="0" rIns="0" bIns="0" rtlCol="0" anchor="ctr"/>
          <a:lstStyle/>
          <a:p>
            <a:pPr indent="0" marL="0">
              <a:buNone/>
            </a:pPr>
            <a:r>
              <a:rPr lang="en-US" sz="1650" b="1" dirty="0">
                <a:solidFill>
                  <a:srgbClr val="0B1026"/>
                </a:solidFill>
                <a:latin typeface="Calibri" pitchFamily="34" charset="0"/>
                <a:ea typeface="Calibri" pitchFamily="34" charset="-122"/>
                <a:cs typeface="Calibri" pitchFamily="34" charset="-120"/>
              </a:rPr>
              <a:t>What guards the answer</a:t>
            </a:r>
            <a:endParaRPr lang="en-US" sz="1650" dirty="0"/>
          </a:p>
        </p:txBody>
      </p:sp>
      <p:sp>
        <p:nvSpPr>
          <p:cNvPr id="24" name="Text 22"/>
          <p:cNvSpPr txBox="1"/>
          <p:nvPr/>
        </p:nvSpPr>
        <p:spPr>
          <a:xfrm>
            <a:off x="6629400" y="4736592"/>
            <a:ext cx="4617720" cy="1371600"/>
          </a:xfrm>
          <a:prstGeom prst="rect">
            <a:avLst/>
          </a:prstGeom>
          <a:noFill/>
          <a:ln/>
        </p:spPr>
        <p:txBody>
          <a:bodyPr wrap="square" lIns="0" tIns="0" rIns="0" bIns="0" rtlCol="0" anchor="ctr"/>
          <a:lstStyle/>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Norm, energy, momentum and angular-momentum gates on every run.</a:t>
            </a:r>
            <a:endParaRPr lang="en-US" sz="1100" dirty="0"/>
          </a:p>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Plus a pre-flight resolution gate — aliasing is exactly unitary, so no conservation check can ever see it.</a:t>
            </a:r>
            <a:endParaRPr lang="en-US" sz="1100" dirty="0"/>
          </a:p>
          <a:p>
            <a:pPr marL="165100" indent="-165100">
              <a:lnSpc>
                <a:spcPct val="108000"/>
              </a:lnSpc>
              <a:spcAft>
                <a:spcPts val="500"/>
              </a:spcAft>
              <a:buSzPct val="100000"/>
              <a:buChar char="•"/>
            </a:pPr>
            <a:r>
              <a:rPr lang="en-US" sz="1100" dirty="0">
                <a:solidFill>
                  <a:srgbClr val="3A4560"/>
                </a:solidFill>
                <a:latin typeface="Calibri" pitchFamily="34" charset="0"/>
                <a:ea typeface="Calibri" pitchFamily="34" charset="-122"/>
                <a:cs typeface="Calibri" pitchFamily="34" charset="-120"/>
              </a:rPr>
              <a:t>Validity gates: the noise must stay a percent-level share of the atom number, and dx well below the healing length.</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6"/>
        </a:solidFill>
      </p:bgPr>
    </p:bg>
    <p:spTree>
      <p:nvGrpSpPr>
        <p:cNvPr id="1" name=""/>
        <p:cNvGrpSpPr/>
        <p:nvPr/>
      </p:nvGrpSpPr>
      <p:grpSpPr>
        <a:xfrm>
          <a:off x="0" y="0"/>
          <a:ext cx="0" cy="0"/>
          <a:chOff x="0" y="0"/>
          <a:chExt cx="0" cy="0"/>
        </a:xfrm>
      </p:grpSpPr>
      <p:sp>
        <p:nvSpPr>
          <p:cNvPr id="2" name="Text 0"/>
          <p:cNvSpPr txBox="1"/>
          <p:nvPr/>
        </p:nvSpPr>
        <p:spPr>
          <a:xfrm>
            <a:off x="640080" y="310896"/>
            <a:ext cx="5486400" cy="274320"/>
          </a:xfrm>
          <a:prstGeom prst="rect">
            <a:avLst/>
          </a:prstGeom>
          <a:noFill/>
          <a:ln/>
        </p:spPr>
        <p:txBody>
          <a:bodyPr wrap="square" lIns="0" tIns="0" rIns="0" bIns="0" rtlCol="0" anchor="ctr"/>
          <a:lstStyle/>
          <a:p>
            <a:pPr indent="0" marL="0">
              <a:buNone/>
            </a:pPr>
            <a:r>
              <a:rPr lang="en-US" sz="1150" b="1" spc="240" kern="0" dirty="0">
                <a:solidFill>
                  <a:srgbClr val="35C4B5"/>
                </a:solidFill>
                <a:latin typeface="Calibri" pitchFamily="34" charset="0"/>
                <a:ea typeface="Calibri" pitchFamily="34" charset="-122"/>
                <a:cs typeface="Calibri" pitchFamily="34" charset="-120"/>
              </a:rPr>
              <a:t>03   IMPLEMENTATION</a:t>
            </a:r>
            <a:endParaRPr lang="en-US" sz="115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it is built</a:t>
            </a:r>
            <a:endParaRPr lang="en-US" sz="3800" dirty="0"/>
          </a:p>
        </p:txBody>
      </p:sp>
      <p:sp>
        <p:nvSpPr>
          <p:cNvPr id="4" name="Text 2"/>
          <p:cNvSpPr txBox="1"/>
          <p:nvPr/>
        </p:nvSpPr>
        <p:spPr>
          <a:xfrm>
            <a:off x="640080" y="1298448"/>
            <a:ext cx="10881360" cy="365760"/>
          </a:xfrm>
          <a:prstGeom prst="rect">
            <a:avLst/>
          </a:prstGeom>
          <a:noFill/>
          <a:ln/>
        </p:spPr>
        <p:txBody>
          <a:bodyPr wrap="square" lIns="0" tIns="0" rIns="0" bIns="0" rtlCol="0" anchor="ctr"/>
          <a:lstStyle/>
          <a:p>
            <a:pPr indent="0" marL="0">
              <a:buNone/>
            </a:pPr>
            <a:r>
              <a:rPr lang="en-US" sz="1450" dirty="0">
                <a:solidFill>
                  <a:srgbClr val="97A3C4"/>
                </a:solidFill>
                <a:latin typeface="Calibri" pitchFamily="34" charset="0"/>
                <a:ea typeface="Calibri" pitchFamily="34" charset="-122"/>
                <a:cs typeface="Calibri" pitchFamily="34" charset="-120"/>
              </a:rPr>
              <a:t>Python, one backend switch, and a memory budget that decides the architecture.</a:t>
            </a:r>
            <a:endParaRPr lang="en-US" sz="1450" dirty="0"/>
          </a:p>
        </p:txBody>
      </p:sp>
      <p:sp>
        <p:nvSpPr>
          <p:cNvPr id="5" name="Shape 3"/>
          <p:cNvSpPr/>
          <p:nvPr/>
        </p:nvSpPr>
        <p:spPr>
          <a:xfrm>
            <a:off x="658368" y="1965960"/>
            <a:ext cx="182880" cy="182880"/>
          </a:xfrm>
          <a:prstGeom prst="ellipse">
            <a:avLst/>
          </a:prstGeom>
          <a:solidFill>
            <a:srgbClr val="0B1026"/>
          </a:solidFill>
          <a:ln w="22225">
            <a:solidFill>
              <a:srgbClr val="35C4B5"/>
            </a:solidFill>
            <a:prstDash val="solid"/>
          </a:ln>
        </p:spPr>
      </p:sp>
      <p:sp>
        <p:nvSpPr>
          <p:cNvPr id="6" name="Shape 4"/>
          <p:cNvSpPr/>
          <p:nvPr/>
        </p:nvSpPr>
        <p:spPr>
          <a:xfrm>
            <a:off x="715061" y="2022653"/>
            <a:ext cx="69494" cy="69494"/>
          </a:xfrm>
          <a:prstGeom prst="ellipse">
            <a:avLst/>
          </a:prstGeom>
          <a:solidFill>
            <a:srgbClr val="35C4B5"/>
          </a:solidFill>
          <a:ln/>
        </p:spPr>
      </p:sp>
      <p:sp>
        <p:nvSpPr>
          <p:cNvPr id="7" name="Text 5"/>
          <p:cNvSpPr txBox="1"/>
          <p:nvPr/>
        </p:nvSpPr>
        <p:spPr>
          <a:xfrm>
            <a:off x="1024128" y="1920240"/>
            <a:ext cx="576072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One codebase, CPU or GPU</a:t>
            </a:r>
            <a:endParaRPr lang="en-US" sz="1500" dirty="0"/>
          </a:p>
        </p:txBody>
      </p:sp>
      <p:sp>
        <p:nvSpPr>
          <p:cNvPr id="8" name="Text 6"/>
          <p:cNvSpPr txBox="1"/>
          <p:nvPr/>
        </p:nvSpPr>
        <p:spPr>
          <a:xfrm>
            <a:off x="1024128" y="2185416"/>
            <a:ext cx="5760720" cy="960120"/>
          </a:xfrm>
          <a:prstGeom prst="rect">
            <a:avLst/>
          </a:prstGeom>
          <a:noFill/>
          <a:ln/>
        </p:spPr>
        <p:txBody>
          <a:bodyPr wrap="square" lIns="0" tIns="0" rIns="0" bIns="0" rtlCol="0" anchor="ctr"/>
          <a:lstStyle/>
          <a:p>
            <a:pPr indent="0" marL="0">
              <a:lnSpc>
                <a:spcPct val="116000"/>
              </a:lnSpc>
              <a:buNone/>
            </a:pPr>
            <a:r>
              <a:rPr lang="en-US" sz="1250" dirty="0">
                <a:solidFill>
                  <a:srgbClr val="97A3C4"/>
                </a:solidFill>
                <a:latin typeface="Calibri" pitchFamily="34" charset="0"/>
                <a:ea typeface="Calibri" pitchFamily="34" charset="-122"/>
                <a:cs typeface="Calibri" pitchFamily="34" charset="-120"/>
              </a:rPr>
              <a:t>NumPy or CuPy is selected at import; every FFT goes through one entry point, so the physics modules never mention a backend. A laptop CPU run and a GPU production run are the same code path.</a:t>
            </a:r>
            <a:endParaRPr lang="en-US" sz="1250" dirty="0"/>
          </a:p>
        </p:txBody>
      </p:sp>
      <p:sp>
        <p:nvSpPr>
          <p:cNvPr id="9" name="Shape 7"/>
          <p:cNvSpPr/>
          <p:nvPr/>
        </p:nvSpPr>
        <p:spPr>
          <a:xfrm>
            <a:off x="658368" y="3282696"/>
            <a:ext cx="182880" cy="182880"/>
          </a:xfrm>
          <a:prstGeom prst="ellipse">
            <a:avLst/>
          </a:prstGeom>
          <a:solidFill>
            <a:srgbClr val="0B1026"/>
          </a:solidFill>
          <a:ln w="22225">
            <a:solidFill>
              <a:srgbClr val="35C4B5"/>
            </a:solidFill>
            <a:prstDash val="solid"/>
          </a:ln>
        </p:spPr>
      </p:sp>
      <p:sp>
        <p:nvSpPr>
          <p:cNvPr id="10" name="Shape 8"/>
          <p:cNvSpPr/>
          <p:nvPr/>
        </p:nvSpPr>
        <p:spPr>
          <a:xfrm>
            <a:off x="715061" y="3339389"/>
            <a:ext cx="69494" cy="69494"/>
          </a:xfrm>
          <a:prstGeom prst="ellipse">
            <a:avLst/>
          </a:prstGeom>
          <a:solidFill>
            <a:srgbClr val="35C4B5"/>
          </a:solidFill>
          <a:ln/>
        </p:spPr>
      </p:sp>
      <p:sp>
        <p:nvSpPr>
          <p:cNvPr id="11" name="Text 9"/>
          <p:cNvSpPr txBox="1"/>
          <p:nvPr/>
        </p:nvSpPr>
        <p:spPr>
          <a:xfrm>
            <a:off x="1024128" y="3236976"/>
            <a:ext cx="576072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fixed solver contract, extended per scenario</a:t>
            </a:r>
            <a:endParaRPr lang="en-US" sz="1500" dirty="0"/>
          </a:p>
        </p:txBody>
      </p:sp>
      <p:sp>
        <p:nvSpPr>
          <p:cNvPr id="12" name="Text 10"/>
          <p:cNvSpPr txBox="1"/>
          <p:nvPr/>
        </p:nvSpPr>
        <p:spPr>
          <a:xfrm>
            <a:off x="1024128" y="3502152"/>
            <a:ext cx="5760720" cy="960120"/>
          </a:xfrm>
          <a:prstGeom prst="rect">
            <a:avLst/>
          </a:prstGeom>
          <a:noFill/>
          <a:ln/>
        </p:spPr>
        <p:txBody>
          <a:bodyPr wrap="square" lIns="0" tIns="0" rIns="0" bIns="0" rtlCol="0" anchor="ctr"/>
          <a:lstStyle/>
          <a:p>
            <a:pPr indent="0" marL="0">
              <a:lnSpc>
                <a:spcPct val="116000"/>
              </a:lnSpc>
              <a:buNone/>
            </a:pPr>
            <a:r>
              <a:rPr lang="en-US" sz="1250" dirty="0">
                <a:solidFill>
                  <a:srgbClr val="97A3C4"/>
                </a:solidFill>
                <a:latin typeface="Calibri" pitchFamily="34" charset="0"/>
                <a:ea typeface="Calibri" pitchFamily="34" charset="-122"/>
                <a:cs typeface="Calibri" pitchFamily="34" charset="-120"/>
              </a:rPr>
              <a:t>Four slots — units, initial state, advance, diagnostics. gpe3d/ evolves the field; nucleation/ only ever reads it. A new experiment is one solver class and one row in a single config table; seven scenarios live there today.</a:t>
            </a:r>
            <a:endParaRPr lang="en-US" sz="1250" dirty="0"/>
          </a:p>
        </p:txBody>
      </p:sp>
      <p:sp>
        <p:nvSpPr>
          <p:cNvPr id="13" name="Shape 11"/>
          <p:cNvSpPr/>
          <p:nvPr/>
        </p:nvSpPr>
        <p:spPr>
          <a:xfrm>
            <a:off x="658368" y="4599432"/>
            <a:ext cx="182880" cy="182880"/>
          </a:xfrm>
          <a:prstGeom prst="ellipse">
            <a:avLst/>
          </a:prstGeom>
          <a:solidFill>
            <a:srgbClr val="0B1026"/>
          </a:solidFill>
          <a:ln w="22225">
            <a:solidFill>
              <a:srgbClr val="35C4B5"/>
            </a:solidFill>
            <a:prstDash val="solid"/>
          </a:ln>
        </p:spPr>
      </p:sp>
      <p:sp>
        <p:nvSpPr>
          <p:cNvPr id="14" name="Shape 12"/>
          <p:cNvSpPr/>
          <p:nvPr/>
        </p:nvSpPr>
        <p:spPr>
          <a:xfrm>
            <a:off x="715061" y="4656125"/>
            <a:ext cx="69494" cy="69494"/>
          </a:xfrm>
          <a:prstGeom prst="ellipse">
            <a:avLst/>
          </a:prstGeom>
          <a:solidFill>
            <a:srgbClr val="35C4B5"/>
          </a:solidFill>
          <a:ln/>
        </p:spPr>
      </p:sp>
      <p:sp>
        <p:nvSpPr>
          <p:cNvPr id="15" name="Text 13"/>
          <p:cNvSpPr txBox="1"/>
          <p:nvPr/>
        </p:nvSpPr>
        <p:spPr>
          <a:xfrm>
            <a:off x="1024128" y="4553712"/>
            <a:ext cx="576072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Memory drives the design</a:t>
            </a:r>
            <a:endParaRPr lang="en-US" sz="1500" dirty="0"/>
          </a:p>
        </p:txBody>
      </p:sp>
      <p:sp>
        <p:nvSpPr>
          <p:cNvPr id="16" name="Text 14"/>
          <p:cNvSpPr txBox="1"/>
          <p:nvPr/>
        </p:nvSpPr>
        <p:spPr>
          <a:xfrm>
            <a:off x="1024128" y="4818888"/>
            <a:ext cx="5760720" cy="960120"/>
          </a:xfrm>
          <a:prstGeom prst="rect">
            <a:avLst/>
          </a:prstGeom>
          <a:noFill/>
          <a:ln/>
        </p:spPr>
        <p:txBody>
          <a:bodyPr wrap="square" lIns="0" tIns="0" rIns="0" bIns="0" rtlCol="0" anchor="ctr"/>
          <a:lstStyle/>
          <a:p>
            <a:pPr indent="0" marL="0">
              <a:lnSpc>
                <a:spcPct val="116000"/>
              </a:lnSpc>
              <a:buNone/>
            </a:pPr>
            <a:r>
              <a:rPr lang="en-US" sz="1250" dirty="0">
                <a:solidFill>
                  <a:srgbClr val="97A3C4"/>
                </a:solidFill>
                <a:latin typeface="Calibri" pitchFamily="34" charset="0"/>
                <a:ea typeface="Calibri" pitchFamily="34" charset="-122"/>
                <a:cs typeface="Calibri" pitchFamily="34" charset="-120"/>
              </a:rPr>
              <a:t>The ensemble is evolved in chunks, so peak memory follows the chunk size and not the ensemble size — exactly, not approximately. Detection then runs per trajectory, before any averaging: the ensemble mean has no cores in it at all.</a:t>
            </a:r>
            <a:endParaRPr lang="en-US" sz="1250" dirty="0"/>
          </a:p>
        </p:txBody>
      </p:sp>
      <p:sp>
        <p:nvSpPr>
          <p:cNvPr id="17" name="Shape 15"/>
          <p:cNvSpPr/>
          <p:nvPr/>
        </p:nvSpPr>
        <p:spPr>
          <a:xfrm>
            <a:off x="7269480" y="1920240"/>
            <a:ext cx="4251960" cy="1170432"/>
          </a:xfrm>
          <a:prstGeom prst="roundRect">
            <a:avLst>
              <a:gd name="adj" fmla="val 4688"/>
            </a:avLst>
          </a:prstGeom>
          <a:solidFill>
            <a:srgbClr val="18234A"/>
          </a:solidFill>
          <a:ln/>
        </p:spPr>
      </p:sp>
      <p:sp>
        <p:nvSpPr>
          <p:cNvPr id="18" name="Text 16"/>
          <p:cNvSpPr txBox="1"/>
          <p:nvPr/>
        </p:nvSpPr>
        <p:spPr>
          <a:xfrm>
            <a:off x="7543800" y="2020824"/>
            <a:ext cx="1417320" cy="530352"/>
          </a:xfrm>
          <a:prstGeom prst="rect">
            <a:avLst/>
          </a:prstGeom>
          <a:noFill/>
          <a:ln/>
        </p:spPr>
        <p:txBody>
          <a:bodyPr wrap="square" lIns="0" tIns="0" rIns="0" bIns="0" rtlCol="0" anchor="ctr"/>
          <a:lstStyle/>
          <a:p>
            <a:pPr indent="0" marL="0">
              <a:buNone/>
            </a:pPr>
            <a:r>
              <a:rPr lang="en-US" sz="3000" b="1" dirty="0">
                <a:solidFill>
                  <a:srgbClr val="35C4B5"/>
                </a:solidFill>
                <a:latin typeface="Cambria" pitchFamily="34" charset="0"/>
                <a:ea typeface="Cambria" pitchFamily="34" charset="-122"/>
                <a:cs typeface="Cambria" pitchFamily="34" charset="-120"/>
              </a:rPr>
              <a:t>45.5 B</a:t>
            </a:r>
            <a:endParaRPr lang="en-US" sz="3000" dirty="0"/>
          </a:p>
        </p:txBody>
      </p:sp>
      <p:sp>
        <p:nvSpPr>
          <p:cNvPr id="19" name="Text 17"/>
          <p:cNvSpPr txBox="1"/>
          <p:nvPr/>
        </p:nvSpPr>
        <p:spPr>
          <a:xfrm>
            <a:off x="9006840" y="2139696"/>
            <a:ext cx="233172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per grid point, measured</a:t>
            </a:r>
            <a:endParaRPr lang="en-US" sz="1200" dirty="0"/>
          </a:p>
        </p:txBody>
      </p:sp>
      <p:sp>
        <p:nvSpPr>
          <p:cNvPr id="20" name="Text 18"/>
          <p:cNvSpPr txBox="1"/>
          <p:nvPr/>
        </p:nvSpPr>
        <p:spPr>
          <a:xfrm>
            <a:off x="7543800" y="2560320"/>
            <a:ext cx="3703320" cy="457200"/>
          </a:xfrm>
          <a:prstGeom prst="rect">
            <a:avLst/>
          </a:prstGeom>
          <a:noFill/>
          <a:ln/>
        </p:spPr>
        <p:txBody>
          <a:bodyPr wrap="square" lIns="0" tIns="0" rIns="0" bIns="0" rtlCol="0" anchor="ctr"/>
          <a:lstStyle/>
          <a:p>
            <a:pPr indent="0" marL="0">
              <a:lnSpc>
                <a:spcPct val="108000"/>
              </a:lnSpc>
              <a:buNone/>
            </a:pPr>
            <a:r>
              <a:rPr lang="en-US" sz="1050" dirty="0">
                <a:solidFill>
                  <a:srgbClr val="97A3C4"/>
                </a:solidFill>
                <a:latin typeface="Calibri" pitchFamily="34" charset="0"/>
                <a:ea typeface="Calibri" pitchFamily="34" charset="-122"/>
                <a:cs typeface="Calibri" pitchFamily="34" charset="-120"/>
              </a:rPr>
              <a:t>A 512³ noise ensemble fits a 6 GB GTX 1660 Ti.</a:t>
            </a:r>
            <a:endParaRPr lang="en-US" sz="1050" dirty="0"/>
          </a:p>
        </p:txBody>
      </p:sp>
      <p:sp>
        <p:nvSpPr>
          <p:cNvPr id="21" name="Shape 19"/>
          <p:cNvSpPr/>
          <p:nvPr/>
        </p:nvSpPr>
        <p:spPr>
          <a:xfrm>
            <a:off x="7269480" y="3236976"/>
            <a:ext cx="4251960" cy="1170432"/>
          </a:xfrm>
          <a:prstGeom prst="roundRect">
            <a:avLst>
              <a:gd name="adj" fmla="val 4688"/>
            </a:avLst>
          </a:prstGeom>
          <a:solidFill>
            <a:srgbClr val="18234A"/>
          </a:solidFill>
          <a:ln/>
        </p:spPr>
      </p:sp>
      <p:sp>
        <p:nvSpPr>
          <p:cNvPr id="22" name="Text 20"/>
          <p:cNvSpPr txBox="1"/>
          <p:nvPr/>
        </p:nvSpPr>
        <p:spPr>
          <a:xfrm>
            <a:off x="7543800" y="3337560"/>
            <a:ext cx="1417320" cy="530352"/>
          </a:xfrm>
          <a:prstGeom prst="rect">
            <a:avLst/>
          </a:prstGeom>
          <a:noFill/>
          <a:ln/>
        </p:spPr>
        <p:txBody>
          <a:bodyPr wrap="square" lIns="0" tIns="0" rIns="0" bIns="0" rtlCol="0" anchor="ctr"/>
          <a:lstStyle/>
          <a:p>
            <a:pPr indent="0" marL="0">
              <a:buNone/>
            </a:pPr>
            <a:r>
              <a:rPr lang="en-US" sz="3000" b="1" dirty="0">
                <a:solidFill>
                  <a:srgbClr val="35C4B5"/>
                </a:solidFill>
                <a:latin typeface="Cambria" pitchFamily="34" charset="0"/>
                <a:ea typeface="Cambria" pitchFamily="34" charset="-122"/>
                <a:cs typeface="Cambria" pitchFamily="34" charset="-120"/>
              </a:rPr>
              <a:t>74</a:t>
            </a:r>
            <a:endParaRPr lang="en-US" sz="3000" dirty="0"/>
          </a:p>
        </p:txBody>
      </p:sp>
      <p:sp>
        <p:nvSpPr>
          <p:cNvPr id="23" name="Text 21"/>
          <p:cNvSpPr txBox="1"/>
          <p:nvPr/>
        </p:nvSpPr>
        <p:spPr>
          <a:xfrm>
            <a:off x="9006840" y="3456432"/>
            <a:ext cx="233172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tests, CPU only, ~2 min</a:t>
            </a:r>
            <a:endParaRPr lang="en-US" sz="1200" dirty="0"/>
          </a:p>
        </p:txBody>
      </p:sp>
      <p:sp>
        <p:nvSpPr>
          <p:cNvPr id="24" name="Text 22"/>
          <p:cNvSpPr txBox="1"/>
          <p:nvPr/>
        </p:nvSpPr>
        <p:spPr>
          <a:xfrm>
            <a:off x="7543800" y="3877056"/>
            <a:ext cx="3703320" cy="457200"/>
          </a:xfrm>
          <a:prstGeom prst="rect">
            <a:avLst/>
          </a:prstGeom>
          <a:noFill/>
          <a:ln/>
        </p:spPr>
        <p:txBody>
          <a:bodyPr wrap="square" lIns="0" tIns="0" rIns="0" bIns="0" rtlCol="0" anchor="ctr"/>
          <a:lstStyle/>
          <a:p>
            <a:pPr indent="0" marL="0">
              <a:lnSpc>
                <a:spcPct val="108000"/>
              </a:lnSpc>
              <a:buNone/>
            </a:pPr>
            <a:r>
              <a:rPr lang="en-US" sz="1050" dirty="0">
                <a:solidFill>
                  <a:srgbClr val="97A3C4"/>
                </a:solidFill>
                <a:latin typeface="Calibri" pitchFamily="34" charset="0"/>
                <a:ea typeface="Calibri" pitchFamily="34" charset="-122"/>
                <a:cs typeface="Calibri" pitchFamily="34" charset="-120"/>
              </a:rPr>
              <a:t>Analytically imprinted fields with known vortex content — and the nulls that matter.</a:t>
            </a:r>
            <a:endParaRPr lang="en-US" sz="1050" dirty="0"/>
          </a:p>
        </p:txBody>
      </p:sp>
      <p:sp>
        <p:nvSpPr>
          <p:cNvPr id="25" name="Shape 23"/>
          <p:cNvSpPr/>
          <p:nvPr/>
        </p:nvSpPr>
        <p:spPr>
          <a:xfrm>
            <a:off x="7269480" y="4553712"/>
            <a:ext cx="4251960" cy="1170432"/>
          </a:xfrm>
          <a:prstGeom prst="roundRect">
            <a:avLst>
              <a:gd name="adj" fmla="val 4688"/>
            </a:avLst>
          </a:prstGeom>
          <a:solidFill>
            <a:srgbClr val="18234A"/>
          </a:solidFill>
          <a:ln/>
        </p:spPr>
      </p:sp>
      <p:sp>
        <p:nvSpPr>
          <p:cNvPr id="26" name="Text 24"/>
          <p:cNvSpPr txBox="1"/>
          <p:nvPr/>
        </p:nvSpPr>
        <p:spPr>
          <a:xfrm>
            <a:off x="7543800" y="4654296"/>
            <a:ext cx="1417320" cy="530352"/>
          </a:xfrm>
          <a:prstGeom prst="rect">
            <a:avLst/>
          </a:prstGeom>
          <a:noFill/>
          <a:ln/>
        </p:spPr>
        <p:txBody>
          <a:bodyPr wrap="square" lIns="0" tIns="0" rIns="0" bIns="0" rtlCol="0" anchor="ctr"/>
          <a:lstStyle/>
          <a:p>
            <a:pPr indent="0" marL="0">
              <a:buNone/>
            </a:pPr>
            <a:r>
              <a:rPr lang="en-US" sz="3000" b="1" dirty="0">
                <a:solidFill>
                  <a:srgbClr val="35C4B5"/>
                </a:solidFill>
                <a:latin typeface="Cambria" pitchFamily="34" charset="0"/>
                <a:ea typeface="Cambria" pitchFamily="34" charset="-122"/>
                <a:cs typeface="Cambria" pitchFamily="34" charset="-120"/>
              </a:rPr>
              <a:t>kB</a:t>
            </a:r>
            <a:endParaRPr lang="en-US" sz="3000" dirty="0"/>
          </a:p>
        </p:txBody>
      </p:sp>
      <p:sp>
        <p:nvSpPr>
          <p:cNvPr id="27" name="Text 25"/>
          <p:cNvSpPr txBox="1"/>
          <p:nvPr/>
        </p:nvSpPr>
        <p:spPr>
          <a:xfrm>
            <a:off x="9006840" y="4773168"/>
            <a:ext cx="233172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of cores per frame, not 450 MB</a:t>
            </a:r>
            <a:endParaRPr lang="en-US" sz="1200" dirty="0"/>
          </a:p>
        </p:txBody>
      </p:sp>
      <p:sp>
        <p:nvSpPr>
          <p:cNvPr id="28" name="Text 26"/>
          <p:cNvSpPr txBox="1"/>
          <p:nvPr/>
        </p:nvSpPr>
        <p:spPr>
          <a:xfrm>
            <a:off x="7543800" y="5193792"/>
            <a:ext cx="3703320" cy="457200"/>
          </a:xfrm>
          <a:prstGeom prst="rect">
            <a:avLst/>
          </a:prstGeom>
          <a:noFill/>
          <a:ln/>
        </p:spPr>
        <p:txBody>
          <a:bodyPr wrap="square" lIns="0" tIns="0" rIns="0" bIns="0" rtlCol="0" anchor="ctr"/>
          <a:lstStyle/>
          <a:p>
            <a:pPr indent="0" marL="0">
              <a:lnSpc>
                <a:spcPct val="108000"/>
              </a:lnSpc>
              <a:buNone/>
            </a:pPr>
            <a:r>
              <a:rPr lang="en-US" sz="1050" dirty="0">
                <a:solidFill>
                  <a:srgbClr val="97A3C4"/>
                </a:solidFill>
                <a:latin typeface="Calibri" pitchFamily="34" charset="0"/>
                <a:ea typeface="Calibri" pitchFamily="34" charset="-122"/>
                <a:cs typeface="Calibri" pitchFamily="34" charset="-120"/>
              </a:rPr>
              <a:t>Fields are never stored, so a finished run re-renders every figure without a GPU.</a:t>
            </a:r>
            <a:endParaRPr lang="en-US" sz="1050" dirty="0"/>
          </a:p>
        </p:txBody>
      </p:sp>
      <p:sp>
        <p:nvSpPr>
          <p:cNvPr id="29" name="Text 27"/>
          <p:cNvSpPr txBox="1"/>
          <p:nvPr/>
        </p:nvSpPr>
        <p:spPr>
          <a:xfrm>
            <a:off x="640080" y="6035040"/>
            <a:ext cx="10881360" cy="502920"/>
          </a:xfrm>
          <a:prstGeom prst="rect">
            <a:avLst/>
          </a:prstGeom>
          <a:noFill/>
          <a:ln/>
        </p:spPr>
        <p:txBody>
          <a:bodyPr wrap="square" lIns="0" tIns="0" rIns="0" bIns="0" rtlCol="0" anchor="ctr"/>
          <a:lstStyle/>
          <a:p>
            <a:pPr indent="0" marL="0">
              <a:lnSpc>
                <a:spcPct val="110000"/>
              </a:lnSpc>
              <a:buNone/>
            </a:pPr>
            <a:r>
              <a:rPr lang="en-US" sz="1150" b="1" dirty="0">
                <a:solidFill>
                  <a:srgbClr val="35C4B5"/>
                </a:solidFill>
                <a:latin typeface="Calibri" pitchFamily="34" charset="0"/>
                <a:ea typeface="Calibri" pitchFamily="34" charset="-122"/>
                <a:cs typeface="Calibri" pitchFamily="34" charset="-120"/>
              </a:rPr>
              <a:t>Current state:  </a:t>
            </a:r>
            <a:pPr indent="0" marL="0">
              <a:lnSpc>
                <a:spcPct val="110000"/>
              </a:lnSpc>
              <a:buNone/>
            </a:pPr>
            <a:r>
              <a:rPr lang="en-US" sz="1150" dirty="0">
                <a:solidFill>
                  <a:srgbClr val="97A3C4"/>
                </a:solidFill>
                <a:latin typeface="Calibri" pitchFamily="34" charset="0"/>
                <a:ea typeface="Calibri" pitchFamily="34" charset="-122"/>
                <a:cs typeface="Calibri" pitchFamily="34" charset="-120"/>
              </a:rPr>
              <a:t>a full correctness pass this week — 13 defects fixed, the energy path 5–6× faster, and every physical quantity reproduced to float32 round-off. Two open decisions need a re-tune: the trap anisotropy is inverted relative to the source paper, and the collision runs at half its velocity.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GPE vortex nucleation</dc:title>
  <dc:subject>PptxGenJS Presentation</dc:subject>
  <dc:creator>Vendelin Svoboda</dc:creator>
  <cp:lastModifiedBy>Vendelin Svoboda</cp:lastModifiedBy>
  <cp:revision>1</cp:revision>
  <dcterms:created xsi:type="dcterms:W3CDTF">2026-09-07T21:18:30Z</dcterms:created>
  <dcterms:modified xsi:type="dcterms:W3CDTF">2026-09-07T21:18:30Z</dcterms:modified>
</cp:coreProperties>
</file>